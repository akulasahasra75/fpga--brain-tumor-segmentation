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Brain Tumor Segmentation on FPGA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i="1">
                <a:solidFill>
                  <a:srgbClr val="2E86C1"/>
                </a:solidFill>
              </a:defRPr>
            </a:pPr>
            <a:r>
              <a:t>with Adaptive Processing Mode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BDC3C7"/>
                </a:solidFill>
              </a:defRPr>
            </a:pPr>
            <a:r>
              <a:t>Digital System Design Lab</a:t>
            </a:r>
          </a:p>
          <a:p/>
          <a:p>
            <a:pPr algn="ctr">
              <a:defRPr sz="1600">
                <a:solidFill>
                  <a:srgbClr val="BDC3C7"/>
                </a:solidFill>
              </a:defRPr>
            </a:pPr>
            <a:r>
              <a:t>Board: Nexys A7-100T (Artix-7 xc7a100tcsg324-1)</a:t>
            </a:r>
          </a:p>
          <a:p/>
          <a:p>
            <a:pPr algn="ctr">
              <a:defRPr sz="1600">
                <a:solidFill>
                  <a:srgbClr val="BDC3C7"/>
                </a:solidFill>
              </a:defRPr>
            </a:pPr>
            <a:r>
              <a:t>Tools: Vitis HLS / Vivado 2025.1</a:t>
            </a:r>
          </a:p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Brain tumor segmentation from MRI is critical for diagnosis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Software-only approaches are slow and power-hungry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Goal: FPGA acceleration for real-time, energy-efficient processing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Input: 256×256 grayscale MRI images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Target: Nexys A7-100T (Artix-7, 100 MHz)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Novelty – Adaptive Mode Selection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76809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Image Quality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Behaviour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High contrast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FAST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Minimal processing, max speed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Medium contrast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Standard Otsu + cleanup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Low contrast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CAREFUL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Adaptive threshold + full morph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MicroBlaze CPU ←AXI→ HLS Otsu Accelerator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Shared 128 KB Image BRAM (dual-port, dual AXI BRAM controllers)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AXI SmartConnect merges HLS gmem0/gmem1 → BRAM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Peripherals: UART (115200), GPIO (5 LEDs), Timer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MicroBlaze controls pipeline; HLS does heavy computation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Algorithm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1. Histogram – 256-bin grayscale histogram (II=1, pipelined)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2. Otsu Threshold – maximise inter-class variance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3. Morphology – erode/dilate for noise removal (mode-dependent)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4. Adaptive Mode – auto-select FAST/NORMAL/CAREFUL from image stats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5. Watershed – connected-component labelling (software post-processing)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Implementation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Phase 1: Python – Verify algorithm (Otsu + Watershed + metrics)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Phase 2: HLS C++ – Synthesise Otsu to IP core (xc7a100tcsg324-1)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Phase 3: Vivado – Build MicroBlaze SoC + bitstream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Phase 4: Vitis – MicroBlaze bare-metal firmware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Phase 5: Test Images – Convert PNG → .bin / .h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Phase 6: Documentation – Report, presentation, user manual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HLS Synthesis Results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76809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Details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 Simulation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✅ 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All 9 tests, all 3 modes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 Synthesis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✅ 97 MHz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II=1 on all major loops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IP Export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✅ Generated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custom_hls_otsu_threshold_top_1_0.zip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FPGA Resource Usage (Estimated)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7680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Resource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Used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Available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Utilisation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LUT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30,969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63,400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FF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33,247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126,800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26%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BRAM_18K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270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DSP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163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240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67%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Segmentation Results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76809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Image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Dice Score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 Selected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brain_01 (bright tumor)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FAST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brain_02 (subtle tumor)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0.98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brain_03 (no tumor)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CAREFUL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Performance Comparison: SW vs FPGA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76809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SW (Python/CPU)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HW (FPGA)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Improvement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Otsu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~20 ms (MB)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~3.4 ms (best)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~5.9× speedup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Power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200 mW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50 mW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4× lower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Energy per image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~4,000 µJ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~169 µJ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~95.8% savings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Live demo on Nexys A7-100T board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Serial terminal (115200 baud) shows processing results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LEDs indicate current processing mode and status:</a:t>
            </a:r>
          </a:p>
          <a:p>
            <a:pPr lvl="1">
              <a:spcAft>
                <a:spcPts val="400"/>
              </a:spcAft>
              <a:defRPr sz="1500">
                <a:solidFill>
                  <a:srgbClr val="666666"/>
                </a:solidFill>
              </a:defRPr>
            </a:pPr>
            <a:r>
              <a:t>LD0: Heartbeat</a:t>
            </a:r>
          </a:p>
          <a:p>
            <a:pPr lvl="1">
              <a:spcAft>
                <a:spcPts val="400"/>
              </a:spcAft>
              <a:defRPr sz="1500">
                <a:solidFill>
                  <a:srgbClr val="666666"/>
                </a:solidFill>
              </a:defRPr>
            </a:pPr>
            <a:r>
              <a:t>LD1: Processing active</a:t>
            </a:r>
          </a:p>
          <a:p>
            <a:pPr lvl="1">
              <a:spcAft>
                <a:spcPts val="400"/>
              </a:spcAft>
              <a:defRPr sz="1500">
                <a:solidFill>
                  <a:srgbClr val="666666"/>
                </a:solidFill>
              </a:defRPr>
            </a:pPr>
            <a:r>
              <a:t>LD2-LD3: Mode (00=FAST, 01=NORMAL, 10=CAREFUL)</a:t>
            </a:r>
          </a:p>
          <a:p>
            <a:pPr lvl="1">
              <a:spcAft>
                <a:spcPts val="400"/>
              </a:spcAft>
              <a:defRPr sz="1500">
                <a:solidFill>
                  <a:srgbClr val="666666"/>
                </a:solidFill>
              </a:defRPr>
            </a:pPr>
            <a:r>
              <a:t>LD4: Done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Successfully implemented Otsu segmentation on FPGA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Adaptive mode selection – novel contribution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~5.9× speedup, ~95.8% energy savings (SoC-fair baseline)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Complete pipeline: Python → HLS → Vivado → Vitis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Future Work:</a:t>
            </a:r>
          </a:p>
          <a:p>
            <a:pPr lvl="1">
              <a:spcAft>
                <a:spcPts val="400"/>
              </a:spcAft>
              <a:defRPr sz="1500">
                <a:solidFill>
                  <a:srgbClr val="666666"/>
                </a:solidFill>
              </a:defRPr>
            </a:pPr>
            <a:r>
              <a:t>Higher resolution (512×512+)</a:t>
            </a:r>
          </a:p>
          <a:p>
            <a:pPr lvl="1">
              <a:spcAft>
                <a:spcPts val="400"/>
              </a:spcAft>
              <a:defRPr sz="1500">
                <a:solidFill>
                  <a:srgbClr val="666666"/>
                </a:solidFill>
              </a:defRPr>
            </a:pPr>
            <a:r>
              <a:t>DMA-based data transfer for faster I/O</a:t>
            </a:r>
          </a:p>
          <a:p>
            <a:pPr lvl="1">
              <a:spcAft>
                <a:spcPts val="400"/>
              </a:spcAft>
              <a:defRPr sz="1500">
                <a:solidFill>
                  <a:srgbClr val="666666"/>
                </a:solidFill>
              </a:defRPr>
            </a:pPr>
            <a:r>
              <a:t>Real MRI DICOM image support</a:t>
            </a:r>
          </a:p>
          <a:p>
            <a:pPr lvl="1">
              <a:spcAft>
                <a:spcPts val="400"/>
              </a:spcAft>
              <a:defRPr sz="1500">
                <a:solidFill>
                  <a:srgbClr val="666666"/>
                </a:solidFill>
              </a:defRPr>
            </a:pPr>
            <a:r>
              <a:t>Zynq port with ARM + Linux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2E86C1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DC3C7"/>
                </a:solidFill>
              </a:defRPr>
            </a:pPr>
            <a:r>
              <a:t>github.com/akulasahasra75/FPGA--Brain-Tumor-Segmentation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